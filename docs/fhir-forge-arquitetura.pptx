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13A1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 i="0">
                <a:solidFill>
                  <a:srgbClr val="FFFFFF"/>
                </a:solidFill>
              </a:rPr>
              <a:t>FHIR-Forge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B0C8F0"/>
                </a:solidFill>
              </a:rPr>
              <a:t>Pipeline Híbrido LLM + SUSHI para Interoperabilidade em Saúde Digital
Conversão Automática de APIs em Recursos FHIR R4 · BR Core · RNDS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309360"/>
            <a:ext cx="12188952" cy="548640"/>
          </a:xfrm>
          <a:prstGeom prst="rect">
            <a:avLst/>
          </a:prstGeom>
          <a:solidFill>
            <a:srgbClr val="13A1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6309360"/>
            <a:ext cx="121889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Versão 2  |  Abril 2026  |  Apache-2.0  |  Cassiano Moralles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2286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0B0FF"/>
                </a:solidFill>
              </a:rPr>
              <a:t>FHIR R4  ·  BR Core  ·  RNDS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E6F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2400" b="1">
                <a:solidFill>
                  <a:srgbClr val="FFFFFF"/>
                </a:solidFill>
              </a:rPr>
              <a:t>  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56692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1A1A2E"/>
                </a:solidFill>
              </a:rPr>
              <a:t>1.  Problema e Motivação</a:t>
            </a:r>
          </a:p>
          <a:p>
            <a:r>
              <a:rPr sz="1500" b="0">
                <a:solidFill>
                  <a:srgbClr val="1A1A2E"/>
                </a:solidFill>
              </a:rPr>
              <a:t>2.  O que é FHIR, BR Core e RNDS</a:t>
            </a:r>
          </a:p>
          <a:p>
            <a:r>
              <a:rPr sz="1500" b="0">
                <a:solidFill>
                  <a:srgbClr val="1A1A2E"/>
                </a:solidFill>
              </a:rPr>
              <a:t>3.  Arquitetura Geral do Sistema</a:t>
            </a:r>
          </a:p>
          <a:p>
            <a:r>
              <a:rPr sz="1500" b="0">
                <a:solidFill>
                  <a:srgbClr val="1A1A2E"/>
                </a:solidFill>
              </a:rPr>
              <a:t>4.  Fluxo de Dados: OpenAPI → Bundle FHIR</a:t>
            </a:r>
          </a:p>
          <a:p>
            <a:r>
              <a:rPr sz="1500" b="0">
                <a:solidFill>
                  <a:srgbClr val="1A1A2E"/>
                </a:solidFill>
              </a:rPr>
              <a:t>5.  Agente LangGraph: os 5 Nós</a:t>
            </a:r>
          </a:p>
          <a:p>
            <a:r>
              <a:rPr sz="1500" b="0">
                <a:solidFill>
                  <a:srgbClr val="1A1A2E"/>
                </a:solidFill>
              </a:rPr>
              <a:t>6.  Roteamento de LLMs e Privacidade (LGPD)</a:t>
            </a:r>
          </a:p>
          <a:p>
            <a:r>
              <a:rPr sz="1500" b="0">
                <a:solidFill>
                  <a:srgbClr val="1A1A2E"/>
                </a:solidFill>
              </a:rPr>
              <a:t>7.  Infraestrutura Docker</a:t>
            </a:r>
          </a:p>
          <a:p>
            <a:r>
              <a:rPr sz="1500" b="0">
                <a:solidFill>
                  <a:srgbClr val="1A1A2E"/>
                </a:solidFill>
              </a:rPr>
              <a:t>8.  Segurança e Conformidade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914400"/>
            <a:ext cx="56692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1A1A2E"/>
                </a:solidFill>
              </a:rPr>
              <a:t>9.  Terminologia Clínica (SNOMED / LOINC)</a:t>
            </a:r>
          </a:p>
          <a:p>
            <a:r>
              <a:rPr sz="1500" b="0">
                <a:solidFill>
                  <a:srgbClr val="1A1A2E"/>
                </a:solidFill>
              </a:rPr>
              <a:t>10. API REST e Workers Assíncronos</a:t>
            </a:r>
          </a:p>
          <a:p>
            <a:r>
              <a:rPr sz="1500" b="0">
                <a:solidFill>
                  <a:srgbClr val="1A1A2E"/>
                </a:solidFill>
              </a:rPr>
              <a:t>11. Servidor MCP: Integração com Claude</a:t>
            </a:r>
          </a:p>
          <a:p>
            <a:r>
              <a:rPr sz="1500" b="0">
                <a:solidFill>
                  <a:srgbClr val="1A1A2E"/>
                </a:solidFill>
              </a:rPr>
              <a:t>12. Pipeline de Avaliação de Qualidade</a:t>
            </a:r>
          </a:p>
          <a:p>
            <a:r>
              <a:rPr sz="1500" b="0">
                <a:solidFill>
                  <a:srgbClr val="1A1A2E"/>
                </a:solidFill>
              </a:rPr>
              <a:t>13. Testes e Qualidade</a:t>
            </a:r>
          </a:p>
          <a:p>
            <a:r>
              <a:rPr sz="1500" b="0">
                <a:solidFill>
                  <a:srgbClr val="1A1A2E"/>
                </a:solidFill>
              </a:rPr>
              <a:t>14. Mapa de Pacotes (uv Workspace)</a:t>
            </a:r>
          </a:p>
          <a:p>
            <a:r>
              <a:rPr sz="1500" b="0">
                <a:solidFill>
                  <a:srgbClr val="1A1A2E"/>
                </a:solidFill>
              </a:rPr>
              <a:t>15. Resultados e Próximos Passos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6537960"/>
            <a:ext cx="1179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</a:rPr>
              <a:t>FHIR-Forge v2.1  |  Abril 2026  |  Apache-2.0  |  Cassiano Moralles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E6F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2400" b="1">
                <a:solidFill>
                  <a:srgbClr val="FFFFFF"/>
                </a:solidFill>
              </a:rPr>
              <a:t>  O Problema: APIs de Saúde vs. Interoperabilidade FHIR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05840"/>
            <a:ext cx="7772400" cy="1325880"/>
          </a:xfrm>
          <a:prstGeom prst="rect">
            <a:avLst/>
          </a:prstGeom>
          <a:solidFill>
            <a:srgbClr val="DBEAFB"/>
          </a:solidFill>
          <a:ln w="12700">
            <a:solidFill>
              <a:srgbClr val="1E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7406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6FDB"/>
                </a:solidFill>
              </a:rPr>
              <a:t>Heterogeneidade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7406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Centenas de sistemas de saúde expõem APIs REST proprietárias — formatos inconsistentes, sem semântica clínica padronizada.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2560320"/>
            <a:ext cx="7772400" cy="1325880"/>
          </a:xfrm>
          <a:prstGeom prst="rect">
            <a:avLst/>
          </a:prstGeom>
          <a:solidFill>
            <a:srgbClr val="DBEAFB"/>
          </a:solidFill>
          <a:ln w="12700">
            <a:solidFill>
              <a:srgbClr val="1E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606039"/>
            <a:ext cx="7406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6FDB"/>
                </a:solidFill>
              </a:rPr>
              <a:t>Exigência da RNDS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971800"/>
            <a:ext cx="7406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A Rede Nacional de Dados em Saúde (RNDS) exige FHIR R4 + BR Core. A conversão manual é cara, lenta e sujeita a erros.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4114800"/>
            <a:ext cx="7772400" cy="1325880"/>
          </a:xfrm>
          <a:prstGeom prst="rect">
            <a:avLst/>
          </a:prstGeom>
          <a:solidFill>
            <a:srgbClr val="DBEAFB"/>
          </a:solidFill>
          <a:ln w="12700">
            <a:solidFill>
              <a:srgbClr val="1E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4160520"/>
            <a:ext cx="7406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6FDB"/>
                </a:solidFill>
              </a:rPr>
              <a:t>Necessidade de Automação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526280"/>
            <a:ext cx="7406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Arquitetos precisam de uma camada de tradução automática e auditável entre o legado e o padrão nacional de interoperabilidade.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12480" y="1005840"/>
            <a:ext cx="3566160" cy="1325880"/>
          </a:xfrm>
          <a:prstGeom prst="rect">
            <a:avLst/>
          </a:prstGeom>
          <a:solidFill>
            <a:srgbClr val="13A163"/>
          </a:solidFill>
          <a:ln w="12700">
            <a:solidFill>
              <a:srgbClr val="13A1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1097280"/>
            <a:ext cx="3566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~4.000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173736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sistemas na RNDS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12480" y="2560320"/>
            <a:ext cx="3566160" cy="1325880"/>
          </a:xfrm>
          <a:prstGeom prst="rect">
            <a:avLst/>
          </a:prstGeom>
          <a:solidFill>
            <a:srgbClr val="13A163"/>
          </a:solidFill>
          <a:ln w="12700">
            <a:solidFill>
              <a:srgbClr val="13A1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2651760"/>
            <a:ext cx="3566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LGPD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3291839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dados sensíveis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12480" y="4114800"/>
            <a:ext cx="3566160" cy="1325880"/>
          </a:xfrm>
          <a:prstGeom prst="rect">
            <a:avLst/>
          </a:prstGeom>
          <a:solidFill>
            <a:srgbClr val="13A163"/>
          </a:solidFill>
          <a:ln w="12700">
            <a:solidFill>
              <a:srgbClr val="13A1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0" y="4206240"/>
            <a:ext cx="3566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FHIR R4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484632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padrão do MS Brasil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" y="6537960"/>
            <a:ext cx="1179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</a:rPr>
              <a:t>FHIR-Forge v2.1  |  Abril 2026  |  Apache-2.0  |  Cassiano Moralles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E6F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2400" b="1">
                <a:solidFill>
                  <a:srgbClr val="FFFFFF"/>
                </a:solidFill>
              </a:rPr>
              <a:t>  FHIR: O Padrão de Interoperabilidade em Saúde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14400"/>
            <a:ext cx="3657600" cy="548640"/>
          </a:xfrm>
          <a:prstGeom prst="rect">
            <a:avLst/>
          </a:prstGeom>
          <a:solidFill>
            <a:srgbClr val="1E6FDB"/>
          </a:solidFill>
          <a:ln w="12700">
            <a:solidFill>
              <a:srgbClr val="1E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FHIR R4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3474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1A1A2E"/>
                </a:solidFill>
              </a:rPr>
              <a:t>Fast Healthcare Interoperability Resources</a:t>
            </a:r>
          </a:p>
          <a:p>
            <a:r>
              <a:rPr sz="1300" b="0">
                <a:solidFill>
                  <a:srgbClr val="1A1A2E"/>
                </a:solidFill>
              </a:rPr>
              <a:t>• Formato JSON / XML / RDF</a:t>
            </a:r>
          </a:p>
          <a:p>
            <a:r>
              <a:rPr sz="1300" b="0">
                <a:solidFill>
                  <a:srgbClr val="1A1A2E"/>
                </a:solidFill>
              </a:rPr>
              <a:t>• API RESTful padronizada</a:t>
            </a:r>
          </a:p>
          <a:p>
            <a:r>
              <a:rPr sz="1300" b="0">
                <a:solidFill>
                  <a:srgbClr val="1A1A2E"/>
                </a:solidFill>
              </a:rPr>
              <a:t>• Recursos tipados: Patient,</a:t>
            </a:r>
          </a:p>
          <a:p>
            <a:r>
              <a:rPr sz="1300" b="0">
                <a:solidFill>
                  <a:srgbClr val="1A1A2E"/>
                </a:solidFill>
              </a:rPr>
              <a:t>  Encounter, Observation…</a:t>
            </a:r>
          </a:p>
          <a:p>
            <a:r>
              <a:rPr sz="1300" b="0">
                <a:solidFill>
                  <a:srgbClr val="1A1A2E"/>
                </a:solidFill>
              </a:rPr>
              <a:t>• Padrão HL7 Internacional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7680" y="914400"/>
            <a:ext cx="3657600" cy="548640"/>
          </a:xfrm>
          <a:prstGeom prst="rect">
            <a:avLst/>
          </a:prstGeom>
          <a:solidFill>
            <a:srgbClr val="13A163"/>
          </a:solidFill>
          <a:ln w="12700">
            <a:solidFill>
              <a:srgbClr val="13A1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0" y="9144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BR 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1554480"/>
            <a:ext cx="3474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1A1A2E"/>
                </a:solidFill>
              </a:rPr>
              <a:t>Perfil brasileiro do FHIR R4</a:t>
            </a:r>
          </a:p>
          <a:p>
            <a:r>
              <a:rPr sz="1300" b="0">
                <a:solidFill>
                  <a:srgbClr val="1A1A2E"/>
                </a:solidFill>
              </a:rPr>
              <a:t>• Mantido pelo DATASUS / MS</a:t>
            </a:r>
          </a:p>
          <a:p>
            <a:r>
              <a:rPr sz="1300" b="0">
                <a:solidFill>
                  <a:srgbClr val="1A1A2E"/>
                </a:solidFill>
              </a:rPr>
              <a:t>• CPF e CNS como identificadores</a:t>
            </a:r>
          </a:p>
          <a:p>
            <a:r>
              <a:rPr sz="1300" b="0">
                <a:solidFill>
                  <a:srgbClr val="1A1A2E"/>
                </a:solidFill>
              </a:rPr>
              <a:t>• Terminologia SNOMED CT Edição BR</a:t>
            </a:r>
          </a:p>
          <a:p>
            <a:r>
              <a:rPr sz="1300" b="0">
                <a:solidFill>
                  <a:srgbClr val="1A1A2E"/>
                </a:solidFill>
              </a:rPr>
              <a:t>• Versão 1.0.0 (2024)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0" y="914400"/>
            <a:ext cx="3657600" cy="54864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9144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RNDS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1554480"/>
            <a:ext cx="3474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1A1A2E"/>
                </a:solidFill>
              </a:rPr>
              <a:t>Reg. Nacional de Dados em Saúde</a:t>
            </a:r>
          </a:p>
          <a:p>
            <a:r>
              <a:rPr sz="1300" b="0">
                <a:solidFill>
                  <a:srgbClr val="1A1A2E"/>
                </a:solidFill>
              </a:rPr>
              <a:t>• Plataforma federal de troca</a:t>
            </a:r>
          </a:p>
          <a:p>
            <a:r>
              <a:rPr sz="1300" b="0">
                <a:solidFill>
                  <a:srgbClr val="1A1A2E"/>
                </a:solidFill>
              </a:rPr>
              <a:t>  de dados clínicos</a:t>
            </a:r>
          </a:p>
          <a:p>
            <a:r>
              <a:rPr sz="1300" b="0">
                <a:solidFill>
                  <a:srgbClr val="1A1A2E"/>
                </a:solidFill>
              </a:rPr>
              <a:t>• Autenticação mTLS + OAuth2</a:t>
            </a:r>
          </a:p>
          <a:p>
            <a:r>
              <a:rPr sz="1300" b="0">
                <a:solidFill>
                  <a:srgbClr val="1A1A2E"/>
                </a:solidFill>
              </a:rPr>
              <a:t>• Ambientes de homologação</a:t>
            </a:r>
          </a:p>
          <a:p>
            <a:r>
              <a:rPr sz="1300" b="0">
                <a:solidFill>
                  <a:srgbClr val="1A1A2E"/>
                </a:solidFill>
              </a:rPr>
              <a:t>  e produção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94360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E6FDB"/>
                </a:solidFill>
              </a:rPr>
              <a:t>✦  FHIR-Forge elimina a necessidade de escrever conversores FHIR manualmente.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" y="6537960"/>
            <a:ext cx="1179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</a:rPr>
              <a:t>FHIR-Forge v2.1  |  Abril 2026  |  Apache-2.0  |  Cassiano Moralles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E6F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2400" b="1">
                <a:solidFill>
                  <a:srgbClr val="FFFFFF"/>
                </a:solidFill>
              </a:rPr>
              <a:t>  Arquitetura do Sistema — Visão Geral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2011680"/>
            <a:ext cx="2103120" cy="1463040"/>
          </a:xfrm>
          <a:prstGeom prst="rect">
            <a:avLst/>
          </a:prstGeom>
          <a:solidFill>
            <a:srgbClr val="DBEAFB"/>
          </a:solidFill>
          <a:ln w="12700">
            <a:solidFill>
              <a:srgbClr val="1E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1A2E"/>
                </a:solidFill>
              </a:rPr>
              <a:t>Entrada
OpenAPI/Swagger
(YAML ou JSON)</a:t>
            </a:r>
          </a:p>
        </p:txBody>
      </p:sp>
      <p:sp>
        <p:nvSpPr>
          <p:cNvPr id="4" name="Rectangle 3"/>
          <p:cNvSpPr/>
          <p:nvPr/>
        </p:nvSpPr>
        <p:spPr>
          <a:xfrm>
            <a:off x="2651760" y="2011680"/>
            <a:ext cx="2103120" cy="1463040"/>
          </a:xfrm>
          <a:prstGeom prst="rect">
            <a:avLst/>
          </a:prstGeom>
          <a:solidFill>
            <a:srgbClr val="1E6FDB"/>
          </a:solidFill>
          <a:ln w="12700">
            <a:solidFill>
              <a:srgbClr val="1E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SwaggerLens
Parser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2011680"/>
            <a:ext cx="2103120" cy="1463040"/>
          </a:xfrm>
          <a:prstGeom prst="rect">
            <a:avLst/>
          </a:prstGeom>
          <a:solidFill>
            <a:srgbClr val="13A163"/>
          </a:solidFill>
          <a:ln w="12700">
            <a:solidFill>
              <a:srgbClr val="13A1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FhirForge
Agente LangGraph</a:t>
            </a:r>
          </a:p>
        </p:txBody>
      </p:sp>
      <p:sp>
        <p:nvSpPr>
          <p:cNvPr id="6" name="Rectangle 5"/>
          <p:cNvSpPr/>
          <p:nvPr/>
        </p:nvSpPr>
        <p:spPr>
          <a:xfrm>
            <a:off x="7406640" y="2011680"/>
            <a:ext cx="2103120" cy="146304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HAPI FHIR
$validate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9784080" y="2011680"/>
            <a:ext cx="2103120" cy="1463040"/>
          </a:xfrm>
          <a:prstGeom prst="rect">
            <a:avLst/>
          </a:prstGeom>
          <a:solidFill>
            <a:srgbClr val="13A163"/>
          </a:solidFill>
          <a:ln w="12700">
            <a:solidFill>
              <a:srgbClr val="13A1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Saída
Bundle FHIR R4
BR Core / RNDS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23160" y="256032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1E6FDB"/>
                </a:solidFill>
              </a:rP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00600" y="256032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1E6FDB"/>
                </a:solidFill>
              </a:rPr>
              <a:t>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8040" y="256032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1E6FDB"/>
                </a:solidFill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55480" y="256032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1E6FDB"/>
                </a:solidFill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720" y="4023360"/>
            <a:ext cx="2286000" cy="822960"/>
          </a:xfrm>
          <a:prstGeom prst="rect">
            <a:avLst/>
          </a:prstGeom>
          <a:solidFill>
            <a:srgbClr val="F0F4FA"/>
          </a:solidFill>
          <a:ln w="1270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6B7280"/>
                </a:solidFill>
              </a:rPr>
              <a:t>TermMapper
SNOMED · LOINC · CID-10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52160" y="4023360"/>
            <a:ext cx="2286000" cy="822960"/>
          </a:xfrm>
          <a:prstGeom prst="rect">
            <a:avLst/>
          </a:prstGeom>
          <a:solidFill>
            <a:srgbClr val="F0F4FA"/>
          </a:solidFill>
          <a:ln w="1270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6B7280"/>
                </a:solidFill>
              </a:rPr>
              <a:t>LLMs
Claude Opus 4.7 / vLLM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352044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6B7280"/>
                </a:solidFill>
              </a:rPr>
              <a:t>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352044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6B7280"/>
                </a:solidFill>
              </a:rPr>
              <a:t>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1663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6B7280"/>
                </a:solidFill>
              </a:rPr>
              <a:t>Pipeline stateful com checkpoints Postgres — cada etapa rastreada no Langfuse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" y="6537960"/>
            <a:ext cx="1179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</a:rPr>
              <a:t>FHIR-Forge v2.1  |  Abril 2026  |  Apache-2.0  |  Cassiano Moralles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E6F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2400" b="1">
                <a:solidFill>
                  <a:srgbClr val="FFFFFF"/>
                </a:solidFill>
              </a:rPr>
              <a:t>  Fluxo de Dados: Da Especificação ao Recurso FHIR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914400"/>
            <a:ext cx="2011680" cy="822960"/>
          </a:xfrm>
          <a:prstGeom prst="rect">
            <a:avLst/>
          </a:prstGeom>
          <a:solidFill>
            <a:srgbClr val="1E6FDB"/>
          </a:solidFill>
          <a:ln w="12700">
            <a:solidFill>
              <a:srgbClr val="1E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0584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1. Recepção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960120"/>
            <a:ext cx="9144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Arquivo .yaml/.json recebido via POST /convert ou fila Dramatiq. Job ID gerado via ULID.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7373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E6FDB"/>
                </a:solidFill>
              </a:rPr>
              <a:t>↓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965960"/>
            <a:ext cx="2011680" cy="822960"/>
          </a:xfrm>
          <a:prstGeom prst="rect">
            <a:avLst/>
          </a:prstGeom>
          <a:solidFill>
            <a:srgbClr val="1E6FDB"/>
          </a:solidFill>
          <a:ln w="12700">
            <a:solidFill>
              <a:srgbClr val="1E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205740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2. SwaggerLens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2011679"/>
            <a:ext cx="9144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Valida o spec (openapi-spec-validator), extrai endpoints tipados: path, method, operationId, schemas, $refs resolvidos.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78892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E6FDB"/>
                </a:solidFill>
              </a:rPr>
              <a:t>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3017520"/>
            <a:ext cx="2011680" cy="822960"/>
          </a:xfrm>
          <a:prstGeom prst="rect">
            <a:avLst/>
          </a:prstGeom>
          <a:solidFill>
            <a:srgbClr val="13A163"/>
          </a:solidFill>
          <a:ln w="12700">
            <a:solidFill>
              <a:srgbClr val="13A1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" y="310896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3. Mapeamento LLM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3063239"/>
            <a:ext cx="9144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Claude Opus 4.7 recebe cada endpoint com exemplos few-shot BR Core → gera JSON do recurso FHIR estruturado.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84048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3A163"/>
                </a:solidFill>
              </a:rPr>
              <a:t>↓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4069079"/>
            <a:ext cx="2011680" cy="82296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320" y="4160519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4. Validação HAPI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68880" y="4114799"/>
            <a:ext cx="9144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POST /$validate no HAPI FHIR 8.4.0 contra perfil BR Core. Erros → fix_node (LLM corrige, até 3 tentativas).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489204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0D2137"/>
                </a:solidFill>
              </a:rPr>
              <a:t>↓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5120640"/>
            <a:ext cx="2011680" cy="822960"/>
          </a:xfrm>
          <a:prstGeom prst="rect">
            <a:avLst/>
          </a:prstGeom>
          <a:solidFill>
            <a:srgbClr val="13A163"/>
          </a:solidFill>
          <a:ln w="12700">
            <a:solidFill>
              <a:srgbClr val="13A1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20" y="5212079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5. Bundle Final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8880" y="5166359"/>
            <a:ext cx="9144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Bundle FHIR R4 com todos os recursos válidos. Entregue ao cliente ou submetido à RNDS via mTLS.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" y="6537960"/>
            <a:ext cx="1179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</a:rPr>
              <a:t>FHIR-Forge v2.1  |  Abril 2026  |  Apache-2.0  |  Cassiano Moralles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E6F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2400" b="1">
                <a:solidFill>
                  <a:srgbClr val="FFFFFF"/>
                </a:solidFill>
              </a:rPr>
              <a:t>  Agente de Conversão: Grafo LangGraph com 5 Nós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828800"/>
            <a:ext cx="2286000" cy="685800"/>
          </a:xfrm>
          <a:prstGeom prst="rect">
            <a:avLst/>
          </a:prstGeom>
          <a:solidFill>
            <a:srgbClr val="1E6FDB"/>
          </a:solidFill>
          <a:ln w="12700">
            <a:solidFill>
              <a:srgbClr val="1E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parse_node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0" y="1828800"/>
            <a:ext cx="2286000" cy="685800"/>
          </a:xfrm>
          <a:prstGeom prst="rect">
            <a:avLst/>
          </a:prstGeom>
          <a:solidFill>
            <a:srgbClr val="1E6FDB"/>
          </a:solidFill>
          <a:ln w="12700">
            <a:solidFill>
              <a:srgbClr val="1E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mapping_node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828800"/>
            <a:ext cx="2286000" cy="685800"/>
          </a:xfrm>
          <a:prstGeom prst="rect">
            <a:avLst/>
          </a:prstGeom>
          <a:solidFill>
            <a:srgbClr val="1E6FDB"/>
          </a:solidFill>
          <a:ln w="12700">
            <a:solidFill>
              <a:srgbClr val="1E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validation_node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0" y="1828800"/>
            <a:ext cx="2286000" cy="685800"/>
          </a:xfrm>
          <a:prstGeom prst="rect">
            <a:avLst/>
          </a:prstGeom>
          <a:solidFill>
            <a:srgbClr val="13A163"/>
          </a:solidFill>
          <a:ln w="12700">
            <a:solidFill>
              <a:srgbClr val="13A1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bundle_node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3840480"/>
            <a:ext cx="2286000" cy="6858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fix_node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46120" y="205740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1E6FDB"/>
                </a:solidFill>
              </a:rP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89320" y="205740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1E6FDB"/>
                </a:solidFill>
              </a:rPr>
              <a:t>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32520" y="205740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1E6FDB"/>
                </a:solidFill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56032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D97706"/>
                </a:solidFill>
              </a:rPr>
              <a:t>↓ inválido
(retry &lt; 3)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23960" y="34747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D97706"/>
                </a:solidFill>
              </a:rPr>
              <a:t>↑ retry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46920" y="4041648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D97706"/>
                </a:solidFill>
              </a:rP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1874519"/>
            <a:ext cx="1097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3A163"/>
                </a:solidFill>
              </a:rPr>
              <a:t>✓ válido /
retry ≥ 3 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475488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• parse_node: Extrai operation_ids dos endpoints a processar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7520" y="475488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• mapping_node: LLM few-shot BR Core → dicts FHIR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0" y="475488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• validation_node: POST $validate no HAPI; popula validation_errors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475488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• bundle_node: Monta Bundle R4 com meta.tag fhir-forge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60720" y="539496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• fix_node: LLM corrige recurso com erros como contexto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03504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</a:rPr>
              <a:t>Estado persiste no Postgres via AsyncPostgresSaver — retomada automática em falha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" y="6537960"/>
            <a:ext cx="1179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</a:rPr>
              <a:t>FHIR-Forge v2.1  |  Abril 2026  |  Apache-2.0  |  Cassiano Moralles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E6F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2400" b="1">
                <a:solidFill>
                  <a:srgbClr val="FFFFFF"/>
                </a:solidFill>
              </a:rPr>
              <a:t>  Roteamento de LLMs: Privacidade por Design (LGPD)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14400"/>
            <a:ext cx="3200400" cy="640080"/>
          </a:xfrm>
          <a:prstGeom prst="rect">
            <a:avLst/>
          </a:prstGeom>
          <a:solidFill>
            <a:srgbClr val="DBEAFB"/>
          </a:solidFill>
          <a:ln w="12700">
            <a:solidFill>
              <a:srgbClr val="1E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1A2E"/>
                </a:solidFill>
              </a:rPr>
              <a:t>Dados de entrada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37360" y="16002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1E6FDB"/>
                </a:solidFill>
              </a:rPr>
              <a:t>↓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2011680"/>
            <a:ext cx="3200400" cy="6400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Contém PHI?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49039" y="21488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3A163"/>
                </a:solidFill>
              </a:rPr>
              <a:t>NÃO 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27889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97706"/>
                </a:solidFill>
              </a:rPr>
              <a:t>SIM + egress=false 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4937760" y="1691640"/>
            <a:ext cx="6858000" cy="475488"/>
          </a:xfrm>
          <a:prstGeom prst="rect">
            <a:avLst/>
          </a:prstGeom>
          <a:solidFill>
            <a:srgbClr val="D1F5E4"/>
          </a:solidFill>
          <a:ln w="12700">
            <a:solidFill>
              <a:srgbClr val="13A1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A1A2E"/>
                </a:solidFill>
              </a:rPr>
              <a:t>claude-opus-4-7  —  Anthropic (padrão)</a:t>
            </a:r>
          </a:p>
        </p:txBody>
      </p:sp>
      <p:sp>
        <p:nvSpPr>
          <p:cNvPr id="9" name="Rectangle 8"/>
          <p:cNvSpPr/>
          <p:nvPr/>
        </p:nvSpPr>
        <p:spPr>
          <a:xfrm>
            <a:off x="4937760" y="2258568"/>
            <a:ext cx="6858000" cy="475488"/>
          </a:xfrm>
          <a:prstGeom prst="rect">
            <a:avLst/>
          </a:prstGeom>
          <a:solidFill>
            <a:srgbClr val="D1F5E4"/>
          </a:solidFill>
          <a:ln w="12700">
            <a:solidFill>
              <a:srgbClr val="13A1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A1A2E"/>
                </a:solidFill>
              </a:rPr>
              <a:t>claude-haiku-4-5-20251001  —  Anthropic (rápido)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37760" y="2825496"/>
            <a:ext cx="6858000" cy="475488"/>
          </a:xfrm>
          <a:prstGeom prst="rect">
            <a:avLst/>
          </a:prstGeom>
          <a:solidFill>
            <a:srgbClr val="D1F5E4"/>
          </a:solidFill>
          <a:ln w="12700">
            <a:solidFill>
              <a:srgbClr val="13A1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A1A2E"/>
                </a:solidFill>
              </a:rPr>
              <a:t>claude-sonnet-4-6  —  AWS Bedrock (fallback)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37760" y="3392424"/>
            <a:ext cx="6858000" cy="475488"/>
          </a:xfrm>
          <a:prstGeom prst="rect">
            <a:avLst/>
          </a:prstGeom>
          <a:solidFill>
            <a:srgbClr val="D1F5E4"/>
          </a:solidFill>
          <a:ln w="12700">
            <a:solidFill>
              <a:srgbClr val="13A1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A1A2E"/>
                </a:solidFill>
              </a:rPr>
              <a:t>sabia-4  —  Maritaca (PT-BR nativo)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200400"/>
            <a:ext cx="11430000" cy="5943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vLLM on-prem (Llama 3.3 70B)  —  dado NUNCA sai da infraestrutura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406908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97706"/>
                </a:solidFill>
              </a:rPr>
              <a:t>⚠  FEATURE_ALLOW_PHI_EGRESS=false por padrão. PHI = dado pessoal de saúde protegido pela LGPD (Lei 13.709/2018).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6634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1A1A2E"/>
                </a:solidFill>
              </a:rPr>
              <a:t>SecretStr (pydantic): chaves de API nunca aparecem em logs ou traces Langfuse.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" y="6537960"/>
            <a:ext cx="1179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</a:rPr>
              <a:t>FHIR-Forge v2.1  |  Abril 2026  |  Apache-2.0  |  Cassiano Moralles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E6F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2400" b="1">
                <a:solidFill>
                  <a:srgbClr val="FFFFFF"/>
                </a:solidFill>
              </a:rPr>
              <a:t>  Infraestrutura: Stack Docker Completa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914400"/>
            <a:ext cx="3749039" cy="457200"/>
          </a:xfrm>
          <a:prstGeom prst="rect">
            <a:avLst/>
          </a:prstGeom>
          <a:solidFill>
            <a:srgbClr val="1E6FDB"/>
          </a:solidFill>
          <a:ln w="12700">
            <a:solidFill>
              <a:srgbClr val="1E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60120"/>
            <a:ext cx="3749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HAPI FHIR 8.4.0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41732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B7280"/>
                </a:solidFill>
              </a:rPr>
              <a:t>Porta 8090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737360"/>
            <a:ext cx="37490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Validação + armazenamento FHIR</a:t>
            </a:r>
          </a:p>
        </p:txBody>
      </p:sp>
      <p:sp>
        <p:nvSpPr>
          <p:cNvPr id="7" name="Rectangle 6"/>
          <p:cNvSpPr/>
          <p:nvPr/>
        </p:nvSpPr>
        <p:spPr>
          <a:xfrm>
            <a:off x="4251959" y="914400"/>
            <a:ext cx="3749039" cy="457200"/>
          </a:xfrm>
          <a:prstGeom prst="rect">
            <a:avLst/>
          </a:prstGeom>
          <a:solidFill>
            <a:srgbClr val="1E6FDB"/>
          </a:solidFill>
          <a:ln w="12700">
            <a:solidFill>
              <a:srgbClr val="1E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51959" y="960120"/>
            <a:ext cx="3749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Snowstorm 7.5.0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59" y="141732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B7280"/>
                </a:solidFill>
              </a:rPr>
              <a:t>Porta 8080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1959" y="1737360"/>
            <a:ext cx="37490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Servidor SNOMED 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0" y="914400"/>
            <a:ext cx="3749039" cy="457200"/>
          </a:xfrm>
          <a:prstGeom prst="rect">
            <a:avLst/>
          </a:prstGeom>
          <a:solidFill>
            <a:srgbClr val="1E6FDB"/>
          </a:solidFill>
          <a:ln w="12700">
            <a:solidFill>
              <a:srgbClr val="1E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960120"/>
            <a:ext cx="3749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Elasticsearch 7.17.24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41732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B7280"/>
                </a:solidFill>
              </a:rPr>
              <a:t>Porta 9200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1737360"/>
            <a:ext cx="37490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Backend do Snowstorm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2697480"/>
            <a:ext cx="3749039" cy="45720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320" y="2743200"/>
            <a:ext cx="3749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PostgreSQL 16 + pgvector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320040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B7280"/>
                </a:solidFill>
              </a:rPr>
              <a:t>Porta 5432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3520440"/>
            <a:ext cx="37490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HAPI JPA · LangGraph · App data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51959" y="2697480"/>
            <a:ext cx="3749039" cy="45720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51959" y="2743200"/>
            <a:ext cx="3749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Redis 7.4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51959" y="320040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B7280"/>
                </a:solidFill>
              </a:rPr>
              <a:t>Porta 6379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51959" y="3520440"/>
            <a:ext cx="37490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Fila Dramatiq + cache de terminologia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0" y="2697480"/>
            <a:ext cx="3749039" cy="45720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0" y="2743200"/>
            <a:ext cx="3749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MinIO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320040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B7280"/>
                </a:solidFill>
              </a:rPr>
              <a:t>Portas 9000/9001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3520440"/>
            <a:ext cx="37490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Artefatos S3-compatible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4480560"/>
            <a:ext cx="3749039" cy="457200"/>
          </a:xfrm>
          <a:prstGeom prst="rect">
            <a:avLst/>
          </a:prstGeom>
          <a:solidFill>
            <a:srgbClr val="13A163"/>
          </a:solidFill>
          <a:ln w="12700">
            <a:solidFill>
              <a:srgbClr val="13A1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4320" y="4526280"/>
            <a:ext cx="3749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Langfuse 2.x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" y="498348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B7280"/>
                </a:solidFill>
              </a:rPr>
              <a:t>Porta 3000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" y="5303520"/>
            <a:ext cx="37490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Observabilidade de LLMs (traces)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51959" y="4480560"/>
            <a:ext cx="3749039" cy="457200"/>
          </a:xfrm>
          <a:prstGeom prst="rect">
            <a:avLst/>
          </a:prstGeom>
          <a:solidFill>
            <a:srgbClr val="13A163"/>
          </a:solidFill>
          <a:ln w="12700">
            <a:solidFill>
              <a:srgbClr val="13A1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51959" y="4526280"/>
            <a:ext cx="3749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ProxyLLM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51959" y="498348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B7280"/>
                </a:solidFill>
              </a:rPr>
              <a:t>Porta 9099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51959" y="5303520"/>
            <a:ext cx="37490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Proxy /v1/messages — mock ou Ollama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0" y="4480560"/>
            <a:ext cx="3749039" cy="457200"/>
          </a:xfrm>
          <a:prstGeom prst="rect">
            <a:avLst/>
          </a:prstGeom>
          <a:solidFill>
            <a:srgbClr val="13A163"/>
          </a:solidFill>
          <a:ln w="12700">
            <a:solidFill>
              <a:srgbClr val="13A1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29600" y="4526280"/>
            <a:ext cx="3749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FastAPI App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0" y="498348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B7280"/>
                </a:solidFill>
              </a:rPr>
              <a:t>Porta 8000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0" y="5303520"/>
            <a:ext cx="37490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Gateway REST da aplicação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" y="6309360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</a:rPr>
              <a:t>Todos os serviços com healthchecks configurados.  `make up` sobe toda a stack.  ~12 GB RAM necessários.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2880" y="6537960"/>
            <a:ext cx="1179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</a:rPr>
              <a:t>FHIR-Forge v2.1  |  Abril 2026  |  Apache-2.0  |  Cassiano Moralles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E6F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2400" b="1">
                <a:solidFill>
                  <a:srgbClr val="FFFFFF"/>
                </a:solidFill>
              </a:rPr>
              <a:t>  Segurança e Conformidade: LGPD + RNDS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914400"/>
            <a:ext cx="2743200" cy="502920"/>
          </a:xfrm>
          <a:prstGeom prst="rect">
            <a:avLst/>
          </a:prstGeom>
          <a:solidFill>
            <a:srgbClr val="1E6FDB"/>
          </a:solidFill>
          <a:ln w="12700">
            <a:solidFill>
              <a:srgbClr val="1E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6012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Autenticação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1508760"/>
            <a:ext cx="26517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A1A2E"/>
                </a:solidFill>
              </a:rPr>
              <a:t>• Bearer token na API REST</a:t>
            </a:r>
          </a:p>
          <a:p>
            <a:r>
              <a:rPr sz="1200" b="0">
                <a:solidFill>
                  <a:srgbClr val="1A1A2E"/>
                </a:solidFill>
              </a:rPr>
              <a:t>• Feature flag ADMIN_NOAUTH (dev)</a:t>
            </a:r>
          </a:p>
          <a:p>
            <a:r>
              <a:rPr sz="1200" b="0">
                <a:solidFill>
                  <a:srgbClr val="1A1A2E"/>
                </a:solidFill>
              </a:rPr>
              <a:t>• OAuth2 + mTLS para RNDS</a:t>
            </a:r>
          </a:p>
          <a:p>
            <a:r>
              <a:rPr sz="1200" b="0">
                <a:solidFill>
                  <a:srgbClr val="1A1A2E"/>
                </a:solidFill>
              </a:rPr>
              <a:t>• Tokens com cache e TTL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914400"/>
            <a:ext cx="2743200" cy="5029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0" y="96012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PHI / LGPD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46120" y="1508760"/>
            <a:ext cx="26517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A1A2E"/>
                </a:solidFill>
              </a:rPr>
              <a:t>• FEATURE_ALLOW_PHI_EGRESS=false</a:t>
            </a:r>
          </a:p>
          <a:p>
            <a:r>
              <a:rPr sz="1200" b="0">
                <a:solidFill>
                  <a:srgbClr val="1A1A2E"/>
                </a:solidFill>
              </a:rPr>
              <a:t>• LLM routing auto p/ on-prem</a:t>
            </a:r>
          </a:p>
          <a:p>
            <a:r>
              <a:rPr sz="1200" b="0">
                <a:solidFill>
                  <a:srgbClr val="1A1A2E"/>
                </a:solidFill>
              </a:rPr>
              <a:t>• Sem PHI em logs ou traces</a:t>
            </a:r>
          </a:p>
          <a:p>
            <a:r>
              <a:rPr sz="1200" b="0">
                <a:solidFill>
                  <a:srgbClr val="1A1A2E"/>
                </a:solidFill>
              </a:rPr>
              <a:t>• Auditabilidade via Langfuse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914400"/>
            <a:ext cx="2743200" cy="50292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0" y="96012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Credenciais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0" y="1508760"/>
            <a:ext cx="26517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A1A2E"/>
                </a:solidFill>
              </a:rPr>
              <a:t>• SecretStr pydantic p/ secrets</a:t>
            </a:r>
          </a:p>
          <a:p>
            <a:r>
              <a:rPr sz="1200" b="0">
                <a:solidFill>
                  <a:srgbClr val="1A1A2E"/>
                </a:solidFill>
              </a:rPr>
              <a:t>• Certs RNDS em secrets/ (não commitado)</a:t>
            </a:r>
          </a:p>
          <a:p>
            <a:r>
              <a:rPr sz="1200" b="0">
                <a:solidFill>
                  <a:srgbClr val="1A1A2E"/>
                </a:solidFill>
              </a:rPr>
              <a:t>• Variáveis de ambiente no .env</a:t>
            </a:r>
          </a:p>
          <a:p>
            <a:r>
              <a:rPr sz="1200" b="0">
                <a:solidFill>
                  <a:srgbClr val="1A1A2E"/>
                </a:solidFill>
              </a:rPr>
              <a:t>• Langfuse keys separadas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052560" y="914400"/>
            <a:ext cx="2743200" cy="502920"/>
          </a:xfrm>
          <a:prstGeom prst="rect">
            <a:avLst/>
          </a:prstGeom>
          <a:solidFill>
            <a:srgbClr val="13A163"/>
          </a:solidFill>
          <a:ln w="12700">
            <a:solidFill>
              <a:srgbClr val="13A1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52560" y="96012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Resiliência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98280" y="1508760"/>
            <a:ext cx="26517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A1A2E"/>
                </a:solidFill>
              </a:rPr>
              <a:t>• tenacity retry (3x backoff exp.)</a:t>
            </a:r>
          </a:p>
          <a:p>
            <a:r>
              <a:rPr sz="1200" b="0">
                <a:solidFill>
                  <a:srgbClr val="1A1A2E"/>
                </a:solidFill>
              </a:rPr>
              <a:t>• pybreaker circuit breaker</a:t>
            </a:r>
          </a:p>
          <a:p>
            <a:r>
              <a:rPr sz="1200" b="0">
                <a:solidFill>
                  <a:srgbClr val="1A1A2E"/>
                </a:solidFill>
              </a:rPr>
              <a:t>• Dramatiq DLQ após 3 falhas</a:t>
            </a:r>
          </a:p>
          <a:p>
            <a:r>
              <a:rPr sz="1200" b="0">
                <a:solidFill>
                  <a:srgbClr val="1A1A2E"/>
                </a:solidFill>
              </a:rPr>
              <a:t>• Nenhuma tarefa perdida silenciosa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5943600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D97706"/>
                </a:solidFill>
              </a:rPr>
              <a:t>Conformidade LGPD verificada em design — dado sensível jamais egresso sem autorização explícita (Art. 11, Lei 13.709/2018).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" y="6537960"/>
            <a:ext cx="1179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</a:rPr>
              <a:t>FHIR-Forge v2.1  |  Abril 2026  |  Apache-2.0  |  Cassiano Moralles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E6F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2400" b="1">
                <a:solidFill>
                  <a:srgbClr val="FFFFFF"/>
                </a:solidFill>
              </a:rPr>
              <a:t>  Terminologia Clínica: SNOMED CT, LOINC, CID-10, TUSS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2296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</a:rPr>
              <a:t>Camadas de Lookup (ordem de prioridade: ↑ da base para o topo)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14400"/>
            <a:ext cx="5029200" cy="777240"/>
          </a:xfrm>
          <a:prstGeom prst="rect">
            <a:avLst/>
          </a:prstGeom>
          <a:solidFill>
            <a:srgbClr val="1E6FDB"/>
          </a:solidFill>
          <a:ln w="12700">
            <a:solidFill>
              <a:srgbClr val="1E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HAPI FHIR  —  $expand, $lookup (fallback)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783080"/>
            <a:ext cx="5029200" cy="777240"/>
          </a:xfrm>
          <a:prstGeom prst="rect">
            <a:avLst/>
          </a:prstGeom>
          <a:solidFill>
            <a:srgbClr val="13A163"/>
          </a:solidFill>
          <a:ln w="12700">
            <a:solidFill>
              <a:srgbClr val="13A1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Snowstorm  —  find_concept (ECL), $translate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2651760"/>
            <a:ext cx="5029200" cy="77724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Redis Cache  —  TTL 3600s, chave {system}:{code}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0" y="914400"/>
            <a:ext cx="6400800" cy="45720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Sistema              Uso Principal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0" y="1417320"/>
            <a:ext cx="6400800" cy="457200"/>
          </a:xfrm>
          <a:prstGeom prst="rect">
            <a:avLst/>
          </a:prstGeom>
          <a:solidFill>
            <a:srgbClr val="F0F4FA"/>
          </a:solidFill>
          <a:ln w="12700">
            <a:solidFill>
              <a:srgbClr val="F0F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0" y="1435608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2E"/>
                </a:solidFill>
              </a:rPr>
              <a:t>SNOMED CT BR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143560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Diagnósticos, procedimentos clínicos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0" y="1920240"/>
            <a:ext cx="64008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0F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720" y="1938528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2E"/>
                </a:solidFill>
              </a:rPr>
              <a:t>LOINC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0" y="193852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Observações e exames laboratoriais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0" y="2423160"/>
            <a:ext cx="6400800" cy="457200"/>
          </a:xfrm>
          <a:prstGeom prst="rect">
            <a:avLst/>
          </a:prstGeom>
          <a:solidFill>
            <a:srgbClr val="F0F4FA"/>
          </a:solidFill>
          <a:ln w="12700">
            <a:solidFill>
              <a:srgbClr val="F0F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60720" y="2441448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2E"/>
                </a:solidFill>
              </a:rPr>
              <a:t>CID-10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244144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Condições (sistema nacional, DATASUS)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0" y="2926080"/>
            <a:ext cx="64008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0F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60720" y="2944368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2E"/>
                </a:solidFill>
              </a:rPr>
              <a:t>TUSS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294436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Procedimentos da saúde suplementar (ANS)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0" y="3429000"/>
            <a:ext cx="6400800" cy="457200"/>
          </a:xfrm>
          <a:prstGeom prst="rect">
            <a:avLst/>
          </a:prstGeom>
          <a:solidFill>
            <a:srgbClr val="F0F4FA"/>
          </a:solidFill>
          <a:ln w="12700">
            <a:solidFill>
              <a:srgbClr val="F0F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60720" y="3447288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2E"/>
                </a:solidFill>
              </a:rPr>
              <a:t>SIGTAP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344728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Procedimentos do SUS (DATASUS)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5029200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6B7280"/>
                </a:solidFill>
              </a:rPr>
              <a:t>Lookup em cache Redis primeiro — 0 chamadas HTTP em cache hits. Mapper orquestra: Redis → Snowstorm → HAPI fallback.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" y="6537960"/>
            <a:ext cx="1179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</a:rPr>
              <a:t>FHIR-Forge v2.1  |  Abril 2026  |  Apache-2.0  |  Cassiano Moralles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E6F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2400" b="1">
                <a:solidFill>
                  <a:srgbClr val="FFFFFF"/>
                </a:solidFill>
              </a:rPr>
              <a:t>  Interface REST + Processamento Assíncrono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914400"/>
            <a:ext cx="5669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E6FDB"/>
                </a:solidFill>
              </a:rPr>
              <a:t>API REST — FastAPI (Porta 8000)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417320"/>
            <a:ext cx="5669280" cy="685800"/>
          </a:xfrm>
          <a:prstGeom prst="rect">
            <a:avLst/>
          </a:prstGeom>
          <a:solidFill>
            <a:srgbClr val="DBEAFB"/>
          </a:solidFill>
          <a:ln w="12700">
            <a:solidFill>
              <a:srgbClr val="1E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E6FDB"/>
                </a:solidFill>
              </a:rPr>
              <a:t>GET  /health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764792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Status de todos os serviços (HAPI, Redis, Postgres)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2194560"/>
            <a:ext cx="5669280" cy="685800"/>
          </a:xfrm>
          <a:prstGeom prst="rect">
            <a:avLst/>
          </a:prstGeom>
          <a:solidFill>
            <a:srgbClr val="DBEAFB"/>
          </a:solidFill>
          <a:ln w="12700">
            <a:solidFill>
              <a:srgbClr val="1E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2240279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E6FDB"/>
                </a:solidFill>
              </a:rPr>
              <a:t>POST /convert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542032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Conversão síncrona ou assíncrona (Dramatiq)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2971800"/>
            <a:ext cx="5669280" cy="685800"/>
          </a:xfrm>
          <a:prstGeom prst="rect">
            <a:avLst/>
          </a:prstGeom>
          <a:solidFill>
            <a:srgbClr val="DBEAFB"/>
          </a:solidFill>
          <a:ln w="12700">
            <a:solidFill>
              <a:srgbClr val="1E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301752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E6FDB"/>
                </a:solidFill>
              </a:rPr>
              <a:t>GET  /fhir/{type}/{id}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3319272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Proxy para HAPI FHIR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3749039"/>
            <a:ext cx="5669280" cy="685800"/>
          </a:xfrm>
          <a:prstGeom prst="rect">
            <a:avLst/>
          </a:prstGeom>
          <a:solidFill>
            <a:srgbClr val="DBEAFB"/>
          </a:solidFill>
          <a:ln w="12700">
            <a:solidFill>
              <a:srgbClr val="1E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3794759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E6FDB"/>
                </a:solidFill>
              </a:rPr>
              <a:t>POST /fhir/{type}/$validate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4096511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Proxy de validação HAPI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4526280"/>
            <a:ext cx="5669280" cy="685800"/>
          </a:xfrm>
          <a:prstGeom prst="rect">
            <a:avLst/>
          </a:prstGeom>
          <a:solidFill>
            <a:srgbClr val="DBEAFB"/>
          </a:solidFill>
          <a:ln w="12700">
            <a:solidFill>
              <a:srgbClr val="1E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45720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E6FDB"/>
                </a:solidFill>
              </a:rPr>
              <a:t>*    /mcp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4873752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Ferramentas MCP para Claude (se habilitado)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914400"/>
            <a:ext cx="5669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2137"/>
                </a:solidFill>
              </a:rPr>
              <a:t>Workers Assíncronos — Dramatiq + Redis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0" y="1417320"/>
            <a:ext cx="5669280" cy="685800"/>
          </a:xfrm>
          <a:prstGeom prst="rect">
            <a:avLst/>
          </a:prstGeom>
          <a:solidFill>
            <a:srgbClr val="DBEAFB"/>
          </a:solidFill>
          <a:ln w="12700">
            <a:solidFill>
              <a:srgbClr val="1E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A1A2E"/>
                </a:solidFill>
              </a:rPr>
              <a:t>POST /convert (async_mode=true)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0" y="2103120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D2137"/>
                </a:solidFill>
              </a:rPr>
              <a:t>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7920" y="2240280"/>
            <a:ext cx="5669280" cy="685800"/>
          </a:xfrm>
          <a:prstGeom prst="rect">
            <a:avLst/>
          </a:prstGeom>
          <a:solidFill>
            <a:srgbClr val="F0F4FA"/>
          </a:solidFill>
          <a:ln w="12700">
            <a:solidFill>
              <a:srgbClr val="0D21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A1A2E"/>
                </a:solidFill>
              </a:rPr>
              <a:t>Redis Queue "fhir"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0" y="2926080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D2137"/>
                </a:solidFill>
              </a:rPr>
              <a:t>↓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7920" y="3063240"/>
            <a:ext cx="5669280" cy="685800"/>
          </a:xfrm>
          <a:prstGeom prst="rect">
            <a:avLst/>
          </a:prstGeom>
          <a:solidFill>
            <a:srgbClr val="13A163"/>
          </a:solidFill>
          <a:ln w="12700">
            <a:solidFill>
              <a:srgbClr val="13A1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A1A2E"/>
                </a:solidFill>
              </a:rPr>
              <a:t>convert_spec_actor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78240" y="374903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D2137"/>
                </a:solidFill>
              </a:rPr>
              <a:t>↓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7920" y="3886200"/>
            <a:ext cx="5669280" cy="685800"/>
          </a:xfrm>
          <a:prstGeom prst="rect">
            <a:avLst/>
          </a:prstGeom>
          <a:solidFill>
            <a:srgbClr val="F0F4FA"/>
          </a:solidFill>
          <a:ln w="12700">
            <a:solidFill>
              <a:srgbClr val="0D21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A1A2E"/>
                </a:solidFill>
              </a:rPr>
              <a:t>Resultado em Redis (job_id)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0" y="4572000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D2137"/>
                </a:solidFill>
              </a:rPr>
              <a:t>↓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17920" y="4709160"/>
            <a:ext cx="5669280" cy="685800"/>
          </a:xfrm>
          <a:prstGeom prst="rect">
            <a:avLst/>
          </a:prstGeom>
          <a:solidFill>
            <a:srgbClr val="F0F4FA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A1A2E"/>
                </a:solidFill>
              </a:rPr>
              <a:t>DLQ após 3 falhas → dlq_handler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" y="6309360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</a:rPr>
              <a:t>OTEL spans automáticos (FastAPIInstrumentor).  structlog com request_id em cada request.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" y="6537960"/>
            <a:ext cx="1179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</a:rPr>
              <a:t>FHIR-Forge v2.1  |  Abril 2026  |  Apache-2.0  |  Cassiano Moralles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E6F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2400" b="1">
                <a:solidFill>
                  <a:srgbClr val="FFFFFF"/>
                </a:solidFill>
              </a:rPr>
              <a:t>  Servidor MCP: 6 Ferramentas FHIR para Claude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1005840"/>
            <a:ext cx="2286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Claude (IA)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2286000" cy="594360"/>
          </a:xfrm>
          <a:prstGeom prst="rect">
            <a:avLst/>
          </a:prstGeom>
          <a:solidFill>
            <a:srgbClr val="0D2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697480" y="1115568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1E6FDB"/>
                </a:solidFill>
              </a:rPr>
              <a:t>⇄</a:t>
            </a:r>
          </a:p>
        </p:txBody>
      </p:sp>
      <p:sp>
        <p:nvSpPr>
          <p:cNvPr id="6" name="Rectangle 5"/>
          <p:cNvSpPr/>
          <p:nvPr/>
        </p:nvSpPr>
        <p:spPr>
          <a:xfrm>
            <a:off x="3291840" y="914400"/>
            <a:ext cx="2926080" cy="777240"/>
          </a:xfrm>
          <a:prstGeom prst="rect">
            <a:avLst/>
          </a:prstGeom>
          <a:solidFill>
            <a:srgbClr val="1E6FDB"/>
          </a:solidFill>
          <a:ln w="12700">
            <a:solidFill>
              <a:srgbClr val="1E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Servidor MCP
(FastMCP 3.x / /mcp)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115568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1E6FDB"/>
                </a:solidFill>
              </a:rPr>
              <a:t>⇄</a:t>
            </a:r>
          </a:p>
        </p:txBody>
      </p:sp>
      <p:sp>
        <p:nvSpPr>
          <p:cNvPr id="8" name="Rectangle 7"/>
          <p:cNvSpPr/>
          <p:nvPr/>
        </p:nvSpPr>
        <p:spPr>
          <a:xfrm>
            <a:off x="6903720" y="868680"/>
            <a:ext cx="2286000" cy="868680"/>
          </a:xfrm>
          <a:prstGeom prst="rect">
            <a:avLst/>
          </a:prstGeom>
          <a:solidFill>
            <a:srgbClr val="DBEAFB"/>
          </a:solidFill>
          <a:ln w="12700">
            <a:solidFill>
              <a:srgbClr val="1E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1A2E"/>
                </a:solidFill>
              </a:rPr>
              <a:t>HAPI FHIR
8090</a:t>
            </a:r>
          </a:p>
        </p:txBody>
      </p:sp>
      <p:sp>
        <p:nvSpPr>
          <p:cNvPr id="9" name="Rectangle 8"/>
          <p:cNvSpPr/>
          <p:nvPr/>
        </p:nvSpPr>
        <p:spPr>
          <a:xfrm>
            <a:off x="9326880" y="868680"/>
            <a:ext cx="2651760" cy="868680"/>
          </a:xfrm>
          <a:prstGeom prst="rect">
            <a:avLst/>
          </a:prstGeom>
          <a:solidFill>
            <a:srgbClr val="D1F5E4"/>
          </a:solidFill>
          <a:ln w="12700">
            <a:solidFill>
              <a:srgbClr val="13A1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1A2E"/>
                </a:solidFill>
              </a:rPr>
              <a:t>Snowstorm
8080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965960"/>
            <a:ext cx="3657600" cy="41148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Ferramenta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1965960"/>
            <a:ext cx="7863840" cy="41148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Descrição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423160"/>
            <a:ext cx="3657600" cy="548640"/>
          </a:xfrm>
          <a:prstGeom prst="rect">
            <a:avLst/>
          </a:prstGeom>
          <a:solidFill>
            <a:srgbClr val="F0F4FA"/>
          </a:solidFill>
          <a:ln w="12700">
            <a:solidFill>
              <a:srgbClr val="F0F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2441448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6FDB"/>
                </a:solidFill>
              </a:rPr>
              <a:t>validate_resource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0" y="2423160"/>
            <a:ext cx="7863840" cy="548640"/>
          </a:xfrm>
          <a:prstGeom prst="rect">
            <a:avLst/>
          </a:prstGeom>
          <a:solidFill>
            <a:srgbClr val="F0F4FA"/>
          </a:solidFill>
          <a:ln w="12700">
            <a:solidFill>
              <a:srgbClr val="F0F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0" y="2441448"/>
            <a:ext cx="7680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Valida recurso FHIR contra perfil BR Core no HAPI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017520"/>
            <a:ext cx="36576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F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3035808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6FDB"/>
                </a:solidFill>
              </a:rPr>
              <a:t>get_resource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360" y="3017520"/>
            <a:ext cx="786384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F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0" y="3035808"/>
            <a:ext cx="7680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Busca recurso FHIR por tipo + ID no HAPI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3611880"/>
            <a:ext cx="3657600" cy="548640"/>
          </a:xfrm>
          <a:prstGeom prst="rect">
            <a:avLst/>
          </a:prstGeom>
          <a:solidFill>
            <a:srgbClr val="F0F4FA"/>
          </a:solidFill>
          <a:ln w="12700">
            <a:solidFill>
              <a:srgbClr val="F0F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3630168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6FDB"/>
                </a:solidFill>
              </a:rPr>
              <a:t>search_resources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360" y="3611880"/>
            <a:ext cx="7863840" cy="548640"/>
          </a:xfrm>
          <a:prstGeom prst="rect">
            <a:avLst/>
          </a:prstGeom>
          <a:solidFill>
            <a:srgbClr val="F0F4FA"/>
          </a:solidFill>
          <a:ln w="12700">
            <a:solidFill>
              <a:srgbClr val="F0F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0" y="3630168"/>
            <a:ext cx="7680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Busca FHIR com parâmetros query-string, paginação automática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4206240"/>
            <a:ext cx="36576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F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4224528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6FDB"/>
                </a:solidFill>
              </a:rPr>
              <a:t>expand_valueset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360" y="4206240"/>
            <a:ext cx="786384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F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0" y="4224528"/>
            <a:ext cx="7680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Expande ValueSet FHIR via $expand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4800600"/>
            <a:ext cx="3657600" cy="548640"/>
          </a:xfrm>
          <a:prstGeom prst="rect">
            <a:avLst/>
          </a:prstGeom>
          <a:solidFill>
            <a:srgbClr val="F0F4FA"/>
          </a:solidFill>
          <a:ln w="12700">
            <a:solidFill>
              <a:srgbClr val="F0F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4818888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6FDB"/>
                </a:solidFill>
              </a:rPr>
              <a:t>find_concept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023360" y="4800600"/>
            <a:ext cx="7863840" cy="548640"/>
          </a:xfrm>
          <a:prstGeom prst="rect">
            <a:avLst/>
          </a:prstGeom>
          <a:solidFill>
            <a:srgbClr val="F0F4FA"/>
          </a:solidFill>
          <a:ln w="12700">
            <a:solidFill>
              <a:srgbClr val="F0F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0" y="4818888"/>
            <a:ext cx="7680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Busca conceito SNOMED CT por texto ou ECL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5394960"/>
            <a:ext cx="36576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F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5413248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6FDB"/>
                </a:solidFill>
              </a:rPr>
              <a:t>translate_code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360" y="5394960"/>
            <a:ext cx="786384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F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0" y="5413248"/>
            <a:ext cx="7680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Traduz código entre sistemas via ConceptMap/$translate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4320" y="6263640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</a:rPr>
              <a:t>Montado em /mcp via FastMCP 3.x (streamable-http). Ativo quando FEATURE_MCP_ENABLED=true.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82880" y="6537960"/>
            <a:ext cx="1179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</a:rPr>
              <a:t>FHIR-Forge v2.1  |  Abril 2026  |  Apache-2.0  |  Cassiano Moralles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E6F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2400" b="1">
                <a:solidFill>
                  <a:srgbClr val="FFFFFF"/>
                </a:solidFill>
              </a:rPr>
              <a:t>  Avaliação de Qualidade: Precision, Recall e Golden Files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914400"/>
            <a:ext cx="2743200" cy="1188720"/>
          </a:xfrm>
          <a:prstGeom prst="rect">
            <a:avLst/>
          </a:prstGeom>
          <a:solidFill>
            <a:srgbClr val="1E6FDB"/>
          </a:solidFill>
          <a:ln w="12700">
            <a:solidFill>
              <a:srgbClr val="1E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0584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Precision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0" y="960120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</a:rPr>
              <a:t>| Tipos preditos ∩ esperados |  /  | Tipos preditos |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150876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6B7280"/>
                </a:solidFill>
              </a:rPr>
              <a:t>Mede: quantos recursos gerados estão corretos?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2286000"/>
            <a:ext cx="2743200" cy="1188720"/>
          </a:xfrm>
          <a:prstGeom prst="rect">
            <a:avLst/>
          </a:prstGeom>
          <a:solidFill>
            <a:srgbClr val="1E6FDB"/>
          </a:solidFill>
          <a:ln w="12700">
            <a:solidFill>
              <a:srgbClr val="1E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237744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Recall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2331720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</a:rPr>
              <a:t>| Tipos preditos ∩ esperados |  /  | Tipos esperados |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288036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6B7280"/>
                </a:solidFill>
              </a:rPr>
              <a:t>Mede: quantos recursos esperados foram gerados?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3657600"/>
            <a:ext cx="2743200" cy="1188720"/>
          </a:xfrm>
          <a:prstGeom prst="rect">
            <a:avLst/>
          </a:prstGeom>
          <a:solidFill>
            <a:srgbClr val="1E6FDB"/>
          </a:solidFill>
          <a:ln w="12700">
            <a:solidFill>
              <a:srgbClr val="1E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" y="3749039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Semantic Diff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3703320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</a:rPr>
              <a:t>deepdiff(predito, esperado, ignore_order=True)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425196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6B7280"/>
                </a:solidFill>
              </a:rPr>
              <a:t>Ignora: id, meta.lastUpdated, meta.versionId (campos voláteis)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50749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137"/>
                </a:solidFill>
              </a:rPr>
              <a:t>EvalRunner: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50749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data/golden/swagger_specs/*.yaml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51206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3A163"/>
                </a:solidFill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50749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→  conversão (mock ou real)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51206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3A163"/>
                </a:solidFill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50749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→  EvalReport(pairs=[PairResult(...)])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5669280"/>
            <a:ext cx="11612880" cy="502920"/>
          </a:xfrm>
          <a:prstGeom prst="rect">
            <a:avLst/>
          </a:prstGeom>
          <a:solidFill>
            <a:srgbClr val="D1F5E4"/>
          </a:solidFill>
          <a:ln w="12700">
            <a:solidFill>
              <a:srgbClr val="13A1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1A2E"/>
                </a:solidFill>
              </a:rPr>
              <a:t>Regressão bloqueante: diff semântico não-zero em golden = bloqueador de merge  |  Precision baseline ≥ 0.80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" y="6537960"/>
            <a:ext cx="1179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</a:rPr>
              <a:t>FHIR-Forge v2.1  |  Abril 2026  |  Apache-2.0  |  Cassiano Moralles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E6F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2400" b="1">
                <a:solidFill>
                  <a:srgbClr val="FFFFFF"/>
                </a:solidFill>
              </a:rPr>
              <a:t>  Estratégia de Testes: 289 Unit + 3 Integration + 7 Regression + 6 E2E, 91% Cobertura</a:t>
            </a:r>
          </a:p>
        </p:txBody>
      </p:sp>
      <p:sp>
        <p:nvSpPr>
          <p:cNvPr id="3" name="Rectangle 2"/>
          <p:cNvSpPr/>
          <p:nvPr/>
        </p:nvSpPr>
        <p:spPr>
          <a:xfrm>
            <a:off x="228600" y="914400"/>
            <a:ext cx="1463040" cy="45720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Camada</a:t>
            </a:r>
          </a:p>
        </p:txBody>
      </p:sp>
      <p:sp>
        <p:nvSpPr>
          <p:cNvPr id="4" name="Rectangle 3"/>
          <p:cNvSpPr/>
          <p:nvPr/>
        </p:nvSpPr>
        <p:spPr>
          <a:xfrm>
            <a:off x="1737360" y="914400"/>
            <a:ext cx="2194560" cy="45720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Marker</a:t>
            </a:r>
          </a:p>
        </p:txBody>
      </p:sp>
      <p:sp>
        <p:nvSpPr>
          <p:cNvPr id="5" name="Rectangle 4"/>
          <p:cNvSpPr/>
          <p:nvPr/>
        </p:nvSpPr>
        <p:spPr>
          <a:xfrm>
            <a:off x="3977639" y="914400"/>
            <a:ext cx="3474720" cy="45720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Ferramentas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79" y="914400"/>
            <a:ext cx="3200400" cy="45720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O que testa</a:t>
            </a:r>
          </a:p>
        </p:txBody>
      </p:sp>
      <p:sp>
        <p:nvSpPr>
          <p:cNvPr id="7" name="Rectangle 6"/>
          <p:cNvSpPr/>
          <p:nvPr/>
        </p:nvSpPr>
        <p:spPr>
          <a:xfrm>
            <a:off x="10744200" y="914400"/>
            <a:ext cx="1463040" cy="45720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Cobertura mín.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417320"/>
            <a:ext cx="1463040" cy="640080"/>
          </a:xfrm>
          <a:prstGeom prst="rect">
            <a:avLst/>
          </a:prstGeom>
          <a:solidFill>
            <a:srgbClr val="F0F4FA"/>
          </a:solidFill>
          <a:ln w="12700">
            <a:solidFill>
              <a:srgbClr val="F0F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490472"/>
            <a:ext cx="1371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Unit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1737360" y="1417320"/>
            <a:ext cx="2194560" cy="640080"/>
          </a:xfrm>
          <a:prstGeom prst="rect">
            <a:avLst/>
          </a:prstGeom>
          <a:solidFill>
            <a:srgbClr val="F0F4FA"/>
          </a:solidFill>
          <a:ln w="12700">
            <a:solidFill>
              <a:srgbClr val="F0F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83080" y="1490472"/>
            <a:ext cx="21031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@pytest.mark.unit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77639" y="1417320"/>
            <a:ext cx="3474720" cy="640080"/>
          </a:xfrm>
          <a:prstGeom prst="rect">
            <a:avLst/>
          </a:prstGeom>
          <a:solidFill>
            <a:srgbClr val="F0F4FA"/>
          </a:solidFill>
          <a:ln w="12700">
            <a:solidFill>
              <a:srgbClr val="F0F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023359" y="1490472"/>
            <a:ext cx="3383279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pytest, respx, unittest.mock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79" y="1417320"/>
            <a:ext cx="3200400" cy="640080"/>
          </a:xfrm>
          <a:prstGeom prst="rect">
            <a:avLst/>
          </a:prstGeom>
          <a:solidFill>
            <a:srgbClr val="F0F4FA"/>
          </a:solidFill>
          <a:ln w="12700">
            <a:solidFill>
              <a:srgbClr val="F0F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43800" y="1490472"/>
            <a:ext cx="31089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Lógica pura — 0 I/O real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744200" y="1417320"/>
            <a:ext cx="1463040" cy="640080"/>
          </a:xfrm>
          <a:prstGeom prst="rect">
            <a:avLst/>
          </a:prstGeom>
          <a:solidFill>
            <a:srgbClr val="F0F4FA"/>
          </a:solidFill>
          <a:ln w="12700">
            <a:solidFill>
              <a:srgbClr val="F0F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789920" y="1490472"/>
            <a:ext cx="1371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≥ 80%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8600" y="2103120"/>
            <a:ext cx="146304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0F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" y="2176272"/>
            <a:ext cx="1371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Integration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37360" y="2103120"/>
            <a:ext cx="21945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0F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783080" y="2176272"/>
            <a:ext cx="21031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@pytest.mark.integration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977639" y="2103120"/>
            <a:ext cx="34747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0F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23359" y="2176272"/>
            <a:ext cx="3383279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testcontainers (Postgres+Redis+HAPI)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98079" y="2103120"/>
            <a:ext cx="320040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0F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43800" y="2176272"/>
            <a:ext cx="31089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CRUD HAPI, filas, banco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744200" y="2103120"/>
            <a:ext cx="146304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0F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789920" y="2176272"/>
            <a:ext cx="1371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≥ 80%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8600" y="2788920"/>
            <a:ext cx="1463040" cy="640080"/>
          </a:xfrm>
          <a:prstGeom prst="rect">
            <a:avLst/>
          </a:prstGeom>
          <a:solidFill>
            <a:srgbClr val="F0F4FA"/>
          </a:solidFill>
          <a:ln w="12700">
            <a:solidFill>
              <a:srgbClr val="F0F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4320" y="2862072"/>
            <a:ext cx="1371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Regression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737360" y="2788920"/>
            <a:ext cx="2194560" cy="640080"/>
          </a:xfrm>
          <a:prstGeom prst="rect">
            <a:avLst/>
          </a:prstGeom>
          <a:solidFill>
            <a:srgbClr val="F0F4FA"/>
          </a:solidFill>
          <a:ln w="12700">
            <a:solidFill>
              <a:srgbClr val="F0F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783080" y="2862072"/>
            <a:ext cx="21031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@pytest.mark.regression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977639" y="2788920"/>
            <a:ext cx="3474720" cy="640080"/>
          </a:xfrm>
          <a:prstGeom prst="rect">
            <a:avLst/>
          </a:prstGeom>
          <a:solidFill>
            <a:srgbClr val="F0F4FA"/>
          </a:solidFill>
          <a:ln w="12700">
            <a:solidFill>
              <a:srgbClr val="F0F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023359" y="2862072"/>
            <a:ext cx="3383279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deepdiff golden-files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98079" y="2788920"/>
            <a:ext cx="3200400" cy="640080"/>
          </a:xfrm>
          <a:prstGeom prst="rect">
            <a:avLst/>
          </a:prstGeom>
          <a:solidFill>
            <a:srgbClr val="F0F4FA"/>
          </a:solidFill>
          <a:ln w="12700">
            <a:solidFill>
              <a:srgbClr val="F0F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543800" y="2862072"/>
            <a:ext cx="31089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Output FHIR não regride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744200" y="2788920"/>
            <a:ext cx="1463040" cy="640080"/>
          </a:xfrm>
          <a:prstGeom prst="rect">
            <a:avLst/>
          </a:prstGeom>
          <a:solidFill>
            <a:srgbClr val="F0F4FA"/>
          </a:solidFill>
          <a:ln w="12700">
            <a:solidFill>
              <a:srgbClr val="F0F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789920" y="2862072"/>
            <a:ext cx="1371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—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28600" y="3474720"/>
            <a:ext cx="146304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0F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4320" y="3547872"/>
            <a:ext cx="1371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E2E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737360" y="3474720"/>
            <a:ext cx="21945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0F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783080" y="3547872"/>
            <a:ext cx="21031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@pytest.mark.e2e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977639" y="3474720"/>
            <a:ext cx="34747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0F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023359" y="3547872"/>
            <a:ext cx="3383279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Anthropic API real + HAPI real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498079" y="3474720"/>
            <a:ext cx="320040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0F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543800" y="3547872"/>
            <a:ext cx="31089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OpenAPI → LangGraph → Bundle (6 testes)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744200" y="3474720"/>
            <a:ext cx="146304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0F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789920" y="3547872"/>
            <a:ext cx="1371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28600" y="4160520"/>
            <a:ext cx="1463040" cy="640080"/>
          </a:xfrm>
          <a:prstGeom prst="rect">
            <a:avLst/>
          </a:prstGeom>
          <a:solidFill>
            <a:srgbClr val="F0F4FA"/>
          </a:solidFill>
          <a:ln w="12700">
            <a:solidFill>
              <a:srgbClr val="F0F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74320" y="4233672"/>
            <a:ext cx="1371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RNDS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737360" y="4160520"/>
            <a:ext cx="2194560" cy="640080"/>
          </a:xfrm>
          <a:prstGeom prst="rect">
            <a:avLst/>
          </a:prstGeom>
          <a:solidFill>
            <a:srgbClr val="F0F4FA"/>
          </a:solidFill>
          <a:ln w="12700">
            <a:solidFill>
              <a:srgbClr val="F0F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783080" y="4233672"/>
            <a:ext cx="21031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@pytest.mark.rnds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977639" y="4160520"/>
            <a:ext cx="3474720" cy="640080"/>
          </a:xfrm>
          <a:prstGeom prst="rect">
            <a:avLst/>
          </a:prstGeom>
          <a:solidFill>
            <a:srgbClr val="F0F4FA"/>
          </a:solidFill>
          <a:ln w="12700">
            <a:solidFill>
              <a:srgbClr val="F0F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023359" y="4233672"/>
            <a:ext cx="3383279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Sandbox RNDS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498079" y="4160520"/>
            <a:ext cx="3200400" cy="640080"/>
          </a:xfrm>
          <a:prstGeom prst="rect">
            <a:avLst/>
          </a:prstGeom>
          <a:solidFill>
            <a:srgbClr val="F0F4FA"/>
          </a:solidFill>
          <a:ln w="12700">
            <a:solidFill>
              <a:srgbClr val="F0F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543800" y="4233672"/>
            <a:ext cx="31089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Submissão real (credenciais)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0744200" y="4160520"/>
            <a:ext cx="1463040" cy="640080"/>
          </a:xfrm>
          <a:prstGeom prst="rect">
            <a:avLst/>
          </a:prstGeom>
          <a:solidFill>
            <a:srgbClr val="F0F4FA"/>
          </a:solidFill>
          <a:ln w="12700">
            <a:solidFill>
              <a:srgbClr val="F0F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789920" y="4233672"/>
            <a:ext cx="1371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—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28600" y="5074920"/>
            <a:ext cx="2834640" cy="822960"/>
          </a:xfrm>
          <a:prstGeom prst="rect">
            <a:avLst/>
          </a:prstGeom>
          <a:solidFill>
            <a:srgbClr val="13A163"/>
          </a:solidFill>
          <a:ln w="12700">
            <a:solidFill>
              <a:srgbClr val="13A1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28600" y="512064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289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28600" y="557784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testes unit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246120" y="5074920"/>
            <a:ext cx="2834640" cy="822960"/>
          </a:xfrm>
          <a:prstGeom prst="rect">
            <a:avLst/>
          </a:prstGeom>
          <a:solidFill>
            <a:srgbClr val="13A163"/>
          </a:solidFill>
          <a:ln w="12700">
            <a:solidFill>
              <a:srgbClr val="13A1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246120" y="512064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91%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246120" y="557784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cobertura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63640" y="5074920"/>
            <a:ext cx="2834640" cy="822960"/>
          </a:xfrm>
          <a:prstGeom prst="rect">
            <a:avLst/>
          </a:prstGeom>
          <a:solidFill>
            <a:srgbClr val="13A163"/>
          </a:solidFill>
          <a:ln w="12700">
            <a:solidFill>
              <a:srgbClr val="13A1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263640" y="512064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263640" y="557784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erros ruff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281159" y="5074920"/>
            <a:ext cx="2834640" cy="822960"/>
          </a:xfrm>
          <a:prstGeom prst="rect">
            <a:avLst/>
          </a:prstGeom>
          <a:solidFill>
            <a:srgbClr val="13A163"/>
          </a:solidFill>
          <a:ln w="12700">
            <a:solidFill>
              <a:srgbClr val="13A1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281159" y="512064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281159" y="557784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erros mypy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2880" y="6537960"/>
            <a:ext cx="1179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</a:rPr>
              <a:t>FHIR-Forge v2.1  |  Abril 2026  |  Apache-2.0  |  Cassiano Moralles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E6F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2400" b="1">
                <a:solidFill>
                  <a:srgbClr val="FFFFFF"/>
                </a:solidFill>
              </a:rPr>
              <a:t>  Organização: uv Workspace — 7 Packages + 2 Apps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14400"/>
            <a:ext cx="3200400" cy="54864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packages/core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49039" y="987552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Settings · LLMRouter · types · exceptions · logging
(sem dependências internas — é a base de tudo)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2103120"/>
            <a:ext cx="3200400" cy="548640"/>
          </a:xfrm>
          <a:prstGeom prst="rect">
            <a:avLst/>
          </a:prstGeom>
          <a:solidFill>
            <a:srgbClr val="1E6FDB"/>
          </a:solidFill>
          <a:ln w="12700">
            <a:solidFill>
              <a:srgbClr val="1E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packages/swagger_lens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49039" y="2176272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→ core  |  Parser OpenAPI 2.0/3.x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834640"/>
            <a:ext cx="3200400" cy="548640"/>
          </a:xfrm>
          <a:prstGeom prst="rect">
            <a:avLst/>
          </a:prstGeom>
          <a:solidFill>
            <a:srgbClr val="1E6FDB"/>
          </a:solidFill>
          <a:ln w="12700">
            <a:solidFill>
              <a:srgbClr val="1E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packages/fhir_forge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2907792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→ core · swagger_lens · connectors  |  LangGraph 5 nós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3566160"/>
            <a:ext cx="3200400" cy="548640"/>
          </a:xfrm>
          <a:prstGeom prst="rect">
            <a:avLst/>
          </a:prstGeom>
          <a:solidFill>
            <a:srgbClr val="1E6FDB"/>
          </a:solidFill>
          <a:ln w="12700">
            <a:solidFill>
              <a:srgbClr val="1E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packages/term_mapper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39" y="3639312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→ core  |  SNOMED/LOINC/CID-10/TUSS + Redis cache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4297680"/>
            <a:ext cx="3200400" cy="548640"/>
          </a:xfrm>
          <a:prstGeom prst="rect">
            <a:avLst/>
          </a:prstGeom>
          <a:solidFill>
            <a:srgbClr val="1E6FDB"/>
          </a:solidFill>
          <a:ln w="12700">
            <a:solidFill>
              <a:srgbClr val="1E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packages/connectors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4370832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→ core  |  HAPI client + RNDS client (mTLS)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5029200"/>
            <a:ext cx="3200400" cy="548640"/>
          </a:xfrm>
          <a:prstGeom prst="rect">
            <a:avLst/>
          </a:prstGeom>
          <a:solidFill>
            <a:srgbClr val="1E6FDB"/>
          </a:solidFill>
          <a:ln w="12700">
            <a:solidFill>
              <a:srgbClr val="1E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packages/eval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5102352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→ core · fhir_forge  |  EvalRunner + métricas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5760720"/>
            <a:ext cx="3200400" cy="548640"/>
          </a:xfrm>
          <a:prstGeom prst="rect">
            <a:avLst/>
          </a:prstGeom>
          <a:solidFill>
            <a:srgbClr val="1E6FDB"/>
          </a:solidFill>
          <a:ln w="12700">
            <a:solidFill>
              <a:srgbClr val="1E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packages/mcp_server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5833872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→ core  |  6 FastMCP tools FHIR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160020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137"/>
                </a:solidFill>
              </a:rPr>
              <a:t>Apps: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38160" y="2103120"/>
            <a:ext cx="3200400" cy="548640"/>
          </a:xfrm>
          <a:prstGeom prst="rect">
            <a:avLst/>
          </a:prstGeom>
          <a:solidFill>
            <a:srgbClr val="13A163"/>
          </a:solidFill>
          <a:ln w="12700">
            <a:solidFill>
              <a:srgbClr val="13A1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apps/api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75720" y="2103120"/>
            <a:ext cx="457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→ fhir_forge · connectors · mcp_server · core
FastAPI gateway — 4 routers + OTEL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2697479"/>
            <a:ext cx="3931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1A1A2E"/>
                </a:solidFill>
              </a:rPr>
              <a:t>→ fhir_forge · connectors · mcp_server · core</a:t>
            </a:r>
          </a:p>
          <a:p>
            <a:r>
              <a:rPr sz="1100" b="0">
                <a:solidFill>
                  <a:srgbClr val="1A1A2E"/>
                </a:solidFill>
              </a:rPr>
              <a:t>FastAPI gateway — 4 routers + OTEL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38160" y="3291840"/>
            <a:ext cx="3200400" cy="548640"/>
          </a:xfrm>
          <a:prstGeom prst="rect">
            <a:avLst/>
          </a:prstGeom>
          <a:solidFill>
            <a:srgbClr val="13A163"/>
          </a:solidFill>
          <a:ln w="12700">
            <a:solidFill>
              <a:srgbClr val="13A1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apps/worker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75720" y="3291840"/>
            <a:ext cx="457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→ fhir_forge · core
Dramatiq actors + DLQ handler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3886200"/>
            <a:ext cx="3931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1A1A2E"/>
                </a:solidFill>
              </a:rPr>
              <a:t>→ fhir_forge · core</a:t>
            </a:r>
          </a:p>
          <a:p>
            <a:r>
              <a:rPr sz="1100" b="0">
                <a:solidFill>
                  <a:srgbClr val="1A1A2E"/>
                </a:solidFill>
              </a:rPr>
              <a:t>Dramatiq actors + DLQ handler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" y="653796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B7280"/>
                </a:solidFill>
              </a:rPr>
              <a:t>Cada membro: pyproject.toml próprio + src layout + hatchling build.  ruff + mypy rodados na raiz.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" y="6537960"/>
            <a:ext cx="1179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</a:rPr>
              <a:t>FHIR-Forge v2.1  |  Abril 2026  |  Apache-2.0  |  Cassiano Moralles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E6F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2400" b="1">
                <a:solidFill>
                  <a:srgbClr val="FFFFFF"/>
                </a:solidFill>
              </a:rPr>
              <a:t>  Resultados Atuais e Roadmap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914400"/>
            <a:ext cx="2743200" cy="1463040"/>
          </a:xfrm>
          <a:prstGeom prst="rect">
            <a:avLst/>
          </a:prstGeom>
          <a:solidFill>
            <a:srgbClr val="1E6FDB"/>
          </a:solidFill>
          <a:ln w="12700">
            <a:solidFill>
              <a:srgbClr val="1E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6012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</a:rPr>
              <a:t>289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82880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testes unit passando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914400"/>
            <a:ext cx="2743200" cy="1463040"/>
          </a:xfrm>
          <a:prstGeom prst="rect">
            <a:avLst/>
          </a:prstGeom>
          <a:solidFill>
            <a:srgbClr val="1E6FDB"/>
          </a:solidFill>
          <a:ln w="12700">
            <a:solidFill>
              <a:srgbClr val="1E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0" y="96012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82880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testes integration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914400"/>
            <a:ext cx="2743200" cy="1463040"/>
          </a:xfrm>
          <a:prstGeom prst="rect">
            <a:avLst/>
          </a:prstGeom>
          <a:solidFill>
            <a:srgbClr val="1E6FDB"/>
          </a:solidFill>
          <a:ln w="12700">
            <a:solidFill>
              <a:srgbClr val="1E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0" y="96012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</a:rPr>
              <a:t>91%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182880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cobertura de código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052560" y="914400"/>
            <a:ext cx="2743200" cy="1463040"/>
          </a:xfrm>
          <a:prstGeom prst="rect">
            <a:avLst/>
          </a:prstGeom>
          <a:solidFill>
            <a:srgbClr val="1E6FDB"/>
          </a:solidFill>
          <a:ln w="12700">
            <a:solidFill>
              <a:srgbClr val="1E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52560" y="96012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52560" y="182880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erros lint/mypy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2743200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2137"/>
                </a:solidFill>
              </a:rPr>
              <a:t>Próximos Passos (v3):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246120"/>
            <a:ext cx="11430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1A1A2E"/>
                </a:solidFill>
              </a:rPr>
              <a:t>• GitHub Actions CI/CD (ci.yml, ig-build.yml) — push/PR/main em &lt; 3/12/20 min</a:t>
            </a:r>
          </a:p>
          <a:p>
            <a:r>
              <a:rPr sz="1300" b="0">
                <a:solidFill>
                  <a:srgbClr val="1A1A2E"/>
                </a:solidFill>
              </a:rPr>
              <a:t>• Helm charts e manifests Kubernetes para deploy em produção</a:t>
            </a:r>
          </a:p>
          <a:p>
            <a:r>
              <a:rPr sz="1300" b="0">
                <a:solidFill>
                  <a:srgbClr val="1A1A2E"/>
                </a:solidFill>
              </a:rPr>
              <a:t>• IG FHIR (SUSHI + IG Publisher) com perfis BR Core customizados</a:t>
            </a:r>
          </a:p>
          <a:p>
            <a:r>
              <a:rPr sz="1300" b="0">
                <a:solidFill>
                  <a:srgbClr val="1A1A2E"/>
                </a:solidFill>
              </a:rPr>
              <a:t>• Carga SNOMED CT Edição BR no Snowstorm (RF2 release)</a:t>
            </a:r>
          </a:p>
          <a:p>
            <a:r>
              <a:rPr sz="1300" b="0">
                <a:solidFill>
                  <a:srgbClr val="1A1A2E"/>
                </a:solidFill>
              </a:rPr>
              <a:t>• Migrations Alembic — modelo de dados de persistência de jobs</a:t>
            </a:r>
          </a:p>
          <a:p>
            <a:r>
              <a:rPr sz="1300" b="0">
                <a:solidFill>
                  <a:srgbClr val="1A1A2E"/>
                </a:solidFill>
              </a:rPr>
              <a:t>• Frontend de monitoramento de jobs (React + WebSocket)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309360"/>
            <a:ext cx="12188952" cy="548640"/>
          </a:xfrm>
          <a:prstGeom prst="rect">
            <a:avLst/>
          </a:prstGeom>
          <a:solidFill>
            <a:srgbClr val="0D2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0" y="6327648"/>
            <a:ext cx="121889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Apache-2.0  |  Autor: Cassiano Moralles  |  Python ≥ 3.12  |  FHIR R4 + BR Core 1.0.0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